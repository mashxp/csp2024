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465840"/>
            <a:ext cx="10971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747720" y="2533680"/>
            <a:ext cx="1026432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l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3480" b="1" i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-US" sz="3480" b="1" i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3480" b="1" i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3480" b="1" i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lang="en-US" sz="3480" b="1" i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-US" sz="3480" b="1" i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3480" b="1" i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3480" b="1" i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3480" b="1" i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l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u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747720" y="3086280"/>
            <a:ext cx="874368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of flucytosine resistance </a:t>
            </a:r>
            <a:r>
              <a:rPr lang="en-US" sz="348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in </a:t>
            </a:r>
            <a:r>
              <a:rPr lang="en-US" sz="3480" b="1" i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Candida auris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747720" y="3982680"/>
            <a:ext cx="891648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Evaluating GSE272878 Replication vs. Phan-Canh et al. (2025)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11778840" y="6355800"/>
            <a:ext cx="2278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1076040" y="2228760"/>
            <a:ext cx="85680" cy="85680"/>
          </a:xfrm>
          <a:custGeom>
            <a:avLst/>
            <a:gdLst>
              <a:gd name="textAreaLeft" fmla="*/ 0 w 85680"/>
              <a:gd name="textAreaRight" fmla="*/ 86040 w 85680"/>
              <a:gd name="textAreaTop" fmla="*/ 0 h 85680"/>
              <a:gd name="textAreaBottom" fmla="*/ 86040 h 85680"/>
            </a:gdLst>
            <a:ahLst/>
            <a:cxnLst/>
            <a:rect l="textAreaLeft" t="textAreaTop" r="textAreaRight" b="textAreaBottom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3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747720" y="1370520"/>
            <a:ext cx="753660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30" b="1" u="none" strike="noStrike">
                <a:solidFill>
                  <a:srgbClr val="E67E22"/>
                </a:solidFill>
                <a:effectLst/>
                <a:uFillTx/>
                <a:latin typeface="Arial"/>
                <a:ea typeface="Arial"/>
              </a:rPr>
              <a:t>1. Executive Summary: Replication Success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1300320" y="2102760"/>
            <a:ext cx="1005840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Original Paper: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Phan-Canh et al. demonstrated that </a:t>
            </a:r>
            <a:r>
              <a:rPr lang="en-US" sz="217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C. auris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rapidly acquires 5FC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1300320" y="2512440"/>
            <a:ext cx="976572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resistance primarily via mutations in </a:t>
            </a:r>
            <a:r>
              <a:rPr lang="en-US" sz="217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FUR1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and </a:t>
            </a:r>
            <a:r>
              <a:rPr lang="en-US" sz="217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FCY2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, rather than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transcriptomic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076040" y="3543120"/>
            <a:ext cx="85680" cy="85680"/>
          </a:xfrm>
          <a:custGeom>
            <a:avLst/>
            <a:gdLst>
              <a:gd name="textAreaLeft" fmla="*/ 0 w 85680"/>
              <a:gd name="textAreaRight" fmla="*/ 86040 w 85680"/>
              <a:gd name="textAreaTop" fmla="*/ 0 h 85680"/>
              <a:gd name="textAreaBottom" fmla="*/ 86040 h 85680"/>
            </a:gdLst>
            <a:ahLst/>
            <a:cxnLst/>
            <a:rect l="textAreaLeft" t="textAreaTop" r="textAreaRight" b="textAreaBottom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6"/>
                </a:cubicBezTo>
                <a:cubicBezTo>
                  <a:pt x="215" y="47"/>
                  <a:pt x="223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300320" y="2931480"/>
            <a:ext cx="171792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dysregulation.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300320" y="3417120"/>
            <a:ext cx="919836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Replication Goal: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Verify the RNA-seq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downstream analysis (GSE272878),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076040" y="4438440"/>
            <a:ext cx="85680" cy="85680"/>
          </a:xfrm>
          <a:custGeom>
            <a:avLst/>
            <a:gdLst>
              <a:gd name="textAreaLeft" fmla="*/ 0 w 85680"/>
              <a:gd name="textAreaRight" fmla="*/ 86040 w 85680"/>
              <a:gd name="textAreaTop" fmla="*/ 0 h 85680"/>
              <a:gd name="textAreaBottom" fmla="*/ 86040 h 85680"/>
            </a:gdLst>
            <a:ahLst/>
            <a:cxnLst/>
            <a:rect l="textAreaLeft" t="textAreaTop" r="textAreaRight" b="textAreaBottom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300320" y="3826800"/>
            <a:ext cx="771228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including PCA, DGE, GO enrichment, and variant identification.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300320" y="4312440"/>
            <a:ext cx="990504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Outcome: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The replication successfully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reproduced the key findings, including the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300320" y="4722120"/>
            <a:ext cx="919980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exact PCA variance structure, the heatmap of top DEGs, and specific Gene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300320" y="5141160"/>
            <a:ext cx="686952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Ontology enrichments for the tolerant phenotype (T1/I1).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1778840" y="6355800"/>
            <a:ext cx="2278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/>
          <p:cNvPicPr/>
          <p:nvPr/>
        </p:nvPicPr>
        <p:blipFill>
          <a:blip r:embed="rId1"/>
          <a:stretch/>
        </p:blipFill>
        <p:spPr>
          <a:xfrm>
            <a:off x="228240" y="1600200"/>
            <a:ext cx="5486760" cy="41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"/>
          <p:cNvSpPr/>
          <p:nvPr/>
        </p:nvSpPr>
        <p:spPr>
          <a:xfrm>
            <a:off x="747720" y="770400"/>
            <a:ext cx="534204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30" b="1" u="none" strike="noStrike">
                <a:solidFill>
                  <a:srgbClr val="E67E22"/>
                </a:solidFill>
                <a:effectLst/>
                <a:uFillTx/>
                <a:latin typeface="Arial"/>
                <a:ea typeface="Arial"/>
              </a:rPr>
              <a:t>2. Comparison: PCA </a:t>
            </a:r>
            <a:r>
              <a:rPr lang="en-US" sz="2830" b="1" u="none" strike="noStrike">
                <a:solidFill>
                  <a:srgbClr val="E67E22"/>
                </a:solidFill>
                <a:effectLst/>
                <a:uFillTx/>
                <a:latin typeface="Arial"/>
                <a:ea typeface="Arial"/>
              </a:rPr>
              <a:t>Clustering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4343400" y="740520"/>
            <a:ext cx="177876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2181960" y="5901480"/>
            <a:ext cx="21614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Replication Data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7943040" y="5943600"/>
            <a:ext cx="211536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Paper</a:t>
            </a:r>
            <a:r>
              <a:rPr lang="en-US" sz="217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17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Figure</a:t>
            </a:r>
            <a:r>
              <a:rPr lang="en-US" sz="217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17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1C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1778840" y="6355800"/>
            <a:ext cx="2278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"/>
          <p:cNvPicPr/>
          <p:nvPr/>
        </p:nvPicPr>
        <p:blipFill>
          <a:blip r:embed="rId2"/>
          <a:srcRect l="0" t="3296" r="0" b="0"/>
          <a:stretch/>
        </p:blipFill>
        <p:spPr>
          <a:xfrm>
            <a:off x="6620400" y="1600200"/>
            <a:ext cx="4809600" cy="388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747720" y="1037160"/>
            <a:ext cx="813600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30" b="1" u="none" strike="noStrike">
                <a:solidFill>
                  <a:srgbClr val="E67E22"/>
                </a:solidFill>
                <a:effectLst/>
                <a:uFillTx/>
                <a:latin typeface="Arial"/>
                <a:ea typeface="Arial"/>
              </a:rPr>
              <a:t>3. Transcriptional Silence of Resistance Drivers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747720" y="1778760"/>
            <a:ext cx="1055484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Paper Finding: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Differential gene expression analysis "showed no consistent pattern in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747720" y="2188440"/>
            <a:ext cx="1044828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differentially expressed genes" to explain resistance, prompting the search for genetic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747720" y="2607480"/>
            <a:ext cx="104292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variants.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076040" y="3867120"/>
            <a:ext cx="85680" cy="85680"/>
          </a:xfrm>
          <a:custGeom>
            <a:avLst/>
            <a:gdLst>
              <a:gd name="textAreaLeft" fmla="*/ 0 w 85680"/>
              <a:gd name="textAreaRight" fmla="*/ 86040 w 85680"/>
              <a:gd name="textAreaTop" fmla="*/ 0 h 85680"/>
              <a:gd name="textAreaBottom" fmla="*/ 86040 h 85680"/>
            </a:gdLst>
            <a:ahLst/>
            <a:cxnLst/>
            <a:rect l="textAreaLeft" t="textAreaTop" r="textAreaRight" b="textAreaBottom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3"/>
                  <a:pt x="204" y="34"/>
                </a:cubicBezTo>
                <a:cubicBezTo>
                  <a:pt x="215" y="46"/>
                  <a:pt x="223" y="58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747720" y="3169440"/>
            <a:ext cx="265140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Replication Finding: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300320" y="3741120"/>
            <a:ext cx="906048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Confirmed that expression levels of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FUR1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(UPRTase) and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FCY2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(cytosine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076040" y="4762440"/>
            <a:ext cx="85680" cy="85680"/>
          </a:xfrm>
          <a:custGeom>
            <a:avLst/>
            <a:gdLst>
              <a:gd name="textAreaLeft" fmla="*/ 0 w 85680"/>
              <a:gd name="textAreaRight" fmla="*/ 86040 w 85680"/>
              <a:gd name="textAreaTop" fmla="*/ 0 h 85680"/>
              <a:gd name="textAreaBottom" fmla="*/ 86040 h 85680"/>
            </a:gdLst>
            <a:ahLst/>
            <a:cxnLst/>
            <a:rect l="textAreaLeft" t="textAreaTop" r="textAreaRight" b="textAreaBottom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5" y="192"/>
                  <a:pt x="204" y="203"/>
                </a:cubicBezTo>
                <a:cubicBezTo>
                  <a:pt x="192" y="214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3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300320" y="4150440"/>
            <a:ext cx="998748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permease) showed no significant differential expression (LogFC ≈ 0, FDR &gt; 0.05).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1300320" y="4636440"/>
            <a:ext cx="972792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This perfectly validates the paper's hypothesis: 5FC resistance relies on genetic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300320" y="5055480"/>
            <a:ext cx="958392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mutations rather than transcriptional upregulation/downregulation of the </a:t>
            </a:r>
            <a:r>
              <a:rPr lang="en-US" sz="217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FCY2-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300320" y="5465160"/>
            <a:ext cx="269856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FCY1-FUR1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pathway.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1778840" y="6355800"/>
            <a:ext cx="2278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11778840" y="6355800"/>
            <a:ext cx="2278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"/>
          <p:cNvPicPr/>
          <p:nvPr/>
        </p:nvPicPr>
        <p:blipFill>
          <a:blip r:embed="rId1"/>
          <a:stretch/>
        </p:blipFill>
        <p:spPr>
          <a:xfrm>
            <a:off x="6174360" y="0"/>
            <a:ext cx="296964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"/>
          <p:cNvPicPr/>
          <p:nvPr/>
        </p:nvPicPr>
        <p:blipFill>
          <a:blip r:embed="rId2"/>
          <a:stretch/>
        </p:blipFill>
        <p:spPr>
          <a:xfrm>
            <a:off x="2971800" y="0"/>
            <a:ext cx="28051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11778840" y="6355800"/>
            <a:ext cx="2278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"/>
          <p:cNvPicPr/>
          <p:nvPr/>
        </p:nvPicPr>
        <p:blipFill>
          <a:blip r:embed="rId1"/>
          <a:stretch/>
        </p:blipFill>
        <p:spPr>
          <a:xfrm>
            <a:off x="0" y="457200"/>
            <a:ext cx="6629400" cy="590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"/>
          <p:cNvPicPr/>
          <p:nvPr/>
        </p:nvPicPr>
        <p:blipFill>
          <a:blip r:embed="rId2"/>
          <a:stretch/>
        </p:blipFill>
        <p:spPr>
          <a:xfrm>
            <a:off x="6648840" y="2286000"/>
            <a:ext cx="5695560" cy="18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11778840" y="6355800"/>
            <a:ext cx="2278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"/>
          <p:cNvPicPr/>
          <p:nvPr/>
        </p:nvPicPr>
        <p:blipFill>
          <a:blip r:embed="rId1"/>
          <a:stretch/>
        </p:blipFill>
        <p:spPr>
          <a:xfrm>
            <a:off x="0" y="685800"/>
            <a:ext cx="6629760" cy="530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"/>
          <p:cNvPicPr/>
          <p:nvPr/>
        </p:nvPicPr>
        <p:blipFill>
          <a:blip r:embed="rId2"/>
          <a:stretch/>
        </p:blipFill>
        <p:spPr>
          <a:xfrm>
            <a:off x="6629760" y="2381760"/>
            <a:ext cx="5714640" cy="2418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2026-03-04T23:14:18Z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